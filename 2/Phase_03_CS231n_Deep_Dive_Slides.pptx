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D85A30">
              <a:alpha val="8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Deeper theory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Computation Graphs,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Optimisation &amp; Regularisation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from Stanford CS231n Lectures 2–4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ML, Deep Learning &amp; Computer Vision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Computation graphs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any function into simple nodes. Backprop = chain rule at each node.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78638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f(x, y, z) = (x + y) × z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291840" y="2103120"/>
            <a:ext cx="731520" cy="640080"/>
          </a:xfrm>
          <a:prstGeom prst="ellipse">
            <a:avLst/>
          </a:prstGeom>
          <a:solidFill>
            <a:srgbClr val="E6F1FB"/>
          </a:solidFill>
          <a:ln w="25400">
            <a:solidFill>
              <a:srgbClr val="378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91840" y="21031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669280" y="2286000"/>
            <a:ext cx="731520" cy="640080"/>
          </a:xfrm>
          <a:prstGeom prst="ellipse">
            <a:avLst/>
          </a:prstGeom>
          <a:solidFill>
            <a:srgbClr val="FAECE7"/>
          </a:solidFill>
          <a:ln w="25400">
            <a:solidFill>
              <a:srgbClr val="D85A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37160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−2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371600" y="2423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5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38912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−4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20624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58368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−12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560320" y="2148840"/>
            <a:ext cx="7315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60320" y="2606040"/>
            <a:ext cx="7315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23360" y="2423160"/>
            <a:ext cx="16459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77840" y="3063240"/>
            <a:ext cx="2743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0" y="2606040"/>
            <a:ext cx="4572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4023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only needs:  </a:t>
            </a:r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gradient</a:t>
            </a:r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(∂output/∂input)  ×  </a:t>
            </a:r>
            <a:pPr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gradient</a:t>
            </a:r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(∂L/∂output)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Backprop gate patterns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in a neural network follows one of these patterns: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" cy="749808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0" y="137160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x + 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0" y="137160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∂q/∂x =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∂q/∂y =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 equally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137160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inputs get the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upstream gradient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240280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240280"/>
            <a:ext cx="54864" cy="749808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24028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gate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224028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x × 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224028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∂q/∂x = 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∂q/∂y = 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2240280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SWAPS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22402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input's gradient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the OTHER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108960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108960"/>
            <a:ext cx="54864" cy="74980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10896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gate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310896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max(x,y)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310896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∂q/∂winner =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∂q/∂loser = 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3108960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35040" y="310896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winner gets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gradient. This IS ReLU!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3977640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977640"/>
            <a:ext cx="54864" cy="749808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397764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94560" y="397764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q₁=x, q₂=x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39776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∂L/∂x = ∂L/∂q₁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∂L/∂q₂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3977640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35040" y="397764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twice → gradients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Optimisation landscape problems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loss surfaces are not simple bowls — three things make optimisation hard: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solidFill>
            <a:srgbClr val="D85A30">
              <a:alpha val="1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463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conditioning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60320" y="1463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is steep in 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direction, flat in another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66344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oscillates across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narrow dimension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675120" y="1463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Momentum, Adam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2560320"/>
            <a:ext cx="7863840" cy="914400"/>
          </a:xfrm>
          <a:prstGeom prst="rect">
            <a:avLst/>
          </a:prstGeom>
          <a:solidFill>
            <a:srgbClr val="7F77DD">
              <a:alpha val="1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5603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Saddle points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560320" y="2560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≈ 0 but NOT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minimum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663440" y="25603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gets stuck 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gradient to follow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675120" y="25603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carries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solidFill>
            <a:srgbClr val="E24B4A">
              <a:alpha val="1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3657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minima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560320" y="3657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than neighbours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not the global min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663440" y="3657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in high dims!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Saddle points 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common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675120" y="3657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noise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escape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Evolution: SGD → Adam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optimiser fixes a problem of the previous one: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7863840" cy="749808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37160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194560" y="137160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-= lr * dx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846320" y="137160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26480" y="137160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Oscillates, stuck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saddle points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20848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240280"/>
            <a:ext cx="7863840" cy="749808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24028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Momentum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194560" y="224028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ρv + dx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-= lr * v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846320" y="224028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26480" y="224028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params share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learning rate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29535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3108960"/>
            <a:ext cx="7863840" cy="749808"/>
          </a:xfrm>
          <a:prstGeom prst="rect">
            <a:avLst/>
          </a:prstGeom>
          <a:solidFill>
            <a:srgbClr val="FAECE7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10896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Adaptive lr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(RMSProp)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194560" y="310896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g² = decay*g² + (1-d)*dx²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-= lr * dx/√g²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846320" y="310896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Per-param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126480" y="310896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Moments start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zero (biased)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0080" y="38221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0080" y="3977640"/>
            <a:ext cx="7863840" cy="749808"/>
          </a:xfrm>
          <a:prstGeom prst="rect">
            <a:avLst/>
          </a:prstGeom>
          <a:solidFill>
            <a:srgbClr val="EAFBE7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" y="397764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Adam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194560" y="397764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m,v + bias correction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-= lr * m̂/√v̂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846320" y="397764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126480" y="39776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always works.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Adam: the full algorithm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Kingma &amp; Ba, 2015 — the most cited optimiser paper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274320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0; v =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 = 1, 2, ...: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dx = compute_gradient(x)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 = β₁ * m + (1 - β₁) * dx          </a:t>
            </a:r>
            <a:pPr indent="0" marL="0">
              <a:buNone/>
            </a:pPr>
            <a:r>
              <a:rPr lang="en-US" sz="1200" dirty="0">
                <a:solidFill>
                  <a:srgbClr val="378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momentum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 = β₂ * v + (1 - β₂) * dx²          </a:t>
            </a:r>
            <a:pPr indent="0" marL="0">
              <a:buNone/>
            </a:pPr>
            <a:r>
              <a:rPr lang="en-US" sz="1200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RMSProp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C6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m̂ = m / (1 - β₁ᵗ)                    </a:t>
            </a:r>
            <a:pPr indent="0" marL="0">
              <a:buNone/>
            </a:pPr>
            <a:r>
              <a:rPr lang="en-US" sz="1200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bias fix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C6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v̂ = v / (1 - β₂ᵗ)                    </a:t>
            </a:r>
            <a:pPr indent="0" marL="0">
              <a:buNone/>
            </a:pPr>
            <a:r>
              <a:rPr lang="en-US" sz="1200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bias fix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-= lr * m̂ / (√v̂ + ε)               </a:t>
            </a:r>
            <a:pPr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update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7863840" cy="640080"/>
          </a:xfrm>
          <a:prstGeom prst="rect">
            <a:avLst/>
          </a:prstGeom>
          <a:solidFill>
            <a:srgbClr val="EAF3D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297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Defaults:  β₁ = 0.9    β₂ = 0.999    lr = 1e-3 or 5e-4    ε = 1e-7.    Almost never need to change these.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L2 regularisation: spread the weights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L_total = L_data + λ Σ wᵢ²     →     penalty grows with weight magnitude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749040" cy="219456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4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w₁ = [1, 0, 0, 0]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penalty = 1² + 0 + 0 + 0 = </a:t>
            </a:r>
            <a:pPr indent="0" marL="0">
              <a:buNone/>
            </a:pPr>
            <a:r>
              <a:rPr lang="en-US" sz="16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ONE feature.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Fragile. If that feature is noisy,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breaks.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749040" cy="2194560"/>
          </a:xfrm>
          <a:prstGeom prst="rect">
            <a:avLst/>
          </a:prstGeom>
          <a:solidFill>
            <a:srgbClr val="EAFBE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w₂ = [0.25, 0.25, 0.25, 0.25]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20116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penalty = 4×0.25² = </a:t>
            </a:r>
            <a:pPr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0.25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ALL features equally.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Robust. Like ensemble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within one model.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give the same output:  w · x = 1.0.  But L2 prefers w₂ by 4×.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7863840" cy="0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rate schedules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large steps to explore, then shrink to fine-tune: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71600"/>
            <a:ext cx="54864" cy="6858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371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43200" y="1371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stays fixed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303520" y="1371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baseline. Often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best.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219456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194560"/>
            <a:ext cx="54864" cy="6858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decay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743200" y="2194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lr by 10 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milestones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03520" y="2194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Classic. Easy to implement.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drop at epoch 30, 60.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" y="301752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3017520"/>
            <a:ext cx="54864" cy="6858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30175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annealing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743200" y="3017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decay following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cosine curve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303520" y="3017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popular in modern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CV. Smooth = stable.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0080" y="384048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0080" y="3840480"/>
            <a:ext cx="54864" cy="68580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22" name="Text 19"/>
          <p:cNvSpPr/>
          <p:nvPr/>
        </p:nvSpPr>
        <p:spPr>
          <a:xfrm>
            <a:off x="1005840" y="38404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+ cosine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2743200" y="3840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up from 0, then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decay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303520" y="3840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 transformers.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early instability.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40080" y="4754880"/>
            <a:ext cx="7863840" cy="0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complete neural network in ~20 lines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hidden. Forward + backward + update. This is the CS231n classic.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7315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Setup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N, D_in, H, D_out = 64, 1000, 100, 10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 = np.random.randn(D_in, H) * 0.01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w2 = np.random.randn(H, D_out) * 0.01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 in range(2000):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 = 1/(1 + np.exp(-x.dot(w1)))     </a:t>
            </a:r>
            <a:pPr indent="0" marL="0">
              <a:buNone/>
            </a:pPr>
            <a:r>
              <a:rPr lang="en-US" sz="1050" dirty="0">
                <a:solidFill>
                  <a:srgbClr val="378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forward: sigmoid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y_pred = h.dot(w2)                  </a:t>
            </a:r>
            <a:pPr indent="0" marL="0">
              <a:buNone/>
            </a:pPr>
            <a:r>
              <a:rPr lang="en-US" sz="1050" dirty="0">
                <a:solidFill>
                  <a:srgbClr val="378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forward: output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= np.square(y_pred - y).sum()   </a:t>
            </a:r>
            <a:pPr indent="0" marL="0">
              <a:buNone/>
            </a:pPr>
            <a:r>
              <a:rPr lang="en-US" sz="1050" dirty="0">
                <a:solidFill>
                  <a:srgbClr val="378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MSE loss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C6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grad_y = 2.0 * (y_pred - y)          </a:t>
            </a:r>
            <a:pPr indent="0" marL="0">
              <a:buNone/>
            </a:pPr>
            <a:r>
              <a:rPr lang="en-US" sz="1050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backward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C6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grad_w2 = h.T.dot(grad_y)            </a:t>
            </a:r>
            <a:pPr indent="0" marL="0">
              <a:buNone/>
            </a:pPr>
            <a:r>
              <a:rPr lang="en-US" sz="1050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dL/dw2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C6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grad_h = grad_y.dot(w2.T)            </a:t>
            </a:r>
            <a:pPr indent="0" marL="0">
              <a:buNone/>
            </a:pPr>
            <a:r>
              <a:rPr lang="en-US" sz="1050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dL/dh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C6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grad_w1 = x.T.dot(grad_h * h*(1-h))  </a:t>
            </a:r>
            <a:pPr indent="0" marL="0">
              <a:buNone/>
            </a:pPr>
            <a:r>
              <a:rPr lang="en-US" sz="1050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dL/dw1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w1 -= 1e-4 * grad_w1                 </a:t>
            </a:r>
            <a:pPr indent="0" marL="0">
              <a:buNone/>
            </a:pPr>
            <a:r>
              <a:rPr lang="en-US" sz="105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gradient descent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w2 -= 1e-4 * grad_w2                 </a:t>
            </a:r>
            <a:pPr indent="0" marL="0">
              <a:buNone/>
            </a:pPr>
            <a:r>
              <a:rPr lang="en-US" sz="105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gradient descent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 deeper: CS231n resources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CS231n — the gold standard for CV deep learning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371600" y="2560320"/>
            <a:ext cx="6400800" cy="365760"/>
          </a:xfrm>
          <a:prstGeom prst="rect">
            <a:avLst/>
          </a:prstGeom>
          <a:solidFill>
            <a:srgbClr val="378ADD">
              <a:alpha val="2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55448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cs231n.github.io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notes — best written DL resource online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949440" y="2560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71600" y="3017520"/>
            <a:ext cx="6400800" cy="365760"/>
          </a:xfrm>
          <a:prstGeom prst="rect">
            <a:avLst/>
          </a:prstGeom>
          <a:solidFill>
            <a:srgbClr val="378ADD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55448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classification, linear classifiers, softmax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949440" y="3017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+ video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371600" y="3474720"/>
            <a:ext cx="6400800" cy="365760"/>
          </a:xfrm>
          <a:prstGeom prst="rect">
            <a:avLst/>
          </a:prstGeom>
          <a:solidFill>
            <a:srgbClr val="378ADD">
              <a:alpha val="2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554480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Regularisation, SGD → Adam, learning rate schedules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949440" y="3474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+ video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solidFill>
            <a:srgbClr val="378ADD">
              <a:alpha val="2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554480" y="3931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5760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networks, computation graphs, backpropagation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949440" y="3931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+ video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371600" y="4389120"/>
            <a:ext cx="6400800" cy="365760"/>
          </a:xfrm>
          <a:prstGeom prst="rect">
            <a:avLst/>
          </a:prstGeom>
          <a:solidFill>
            <a:srgbClr val="378ADD">
              <a:alpha val="2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554480" y="4389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657600" y="4389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KNN, linear classifiers, 2-layer NN from scratch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949440" y="4389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DL Fundamentals — CS231n Deep Dive</dc:title>
  <dc:subject>PptxGenJS Presentation</dc:subject>
  <dc:creator>PptxGenJS</dc:creator>
  <cp:lastModifiedBy>PptxGenJS</cp:lastModifiedBy>
  <cp:revision>1</cp:revision>
  <dcterms:created xsi:type="dcterms:W3CDTF">2026-04-02T14:15:21Z</dcterms:created>
  <dcterms:modified xsi:type="dcterms:W3CDTF">2026-04-02T14:15:21Z</dcterms:modified>
</cp:coreProperties>
</file>