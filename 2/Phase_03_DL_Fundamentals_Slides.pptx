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7F77DD">
              <a:alpha val="8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neuron to a trained network — the theory behind every AI model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Deep Learning &amp; Computer Vision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54864" cy="420624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09728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109728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learning unit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627632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627632"/>
            <a:ext cx="54864" cy="42062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62763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62763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162763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non-linearity is everything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157984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157984"/>
            <a:ext cx="54864" cy="42062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15798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15798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 networks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0" y="2157984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layers = power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2688336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688336"/>
            <a:ext cx="54864" cy="42062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26883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268833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268833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how wrong we are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218688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218688"/>
            <a:ext cx="54864" cy="420624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321868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5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32186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0" y="321868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that enables learning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749040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3749040"/>
            <a:ext cx="54864" cy="420624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374904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71600" y="374904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0" y="374904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weights get updated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4279392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" y="4279392"/>
            <a:ext cx="54864" cy="420624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27939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71600" y="427939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14800" y="427939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overfitting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1: The neuron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unit of a neural network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97280" y="1463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w₁x₁ + w₂x₂ + ... + wₙxₙ + b  =  wᵀx + b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" y="1920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σ(z)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1463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834640"/>
            <a:ext cx="146304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971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40080" y="3383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749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267712" y="2834640"/>
            <a:ext cx="1463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67712" y="2834640"/>
            <a:ext cx="146304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5" name="Text 12"/>
          <p:cNvSpPr/>
          <p:nvPr/>
        </p:nvSpPr>
        <p:spPr>
          <a:xfrm>
            <a:off x="2267712" y="2971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267712" y="3383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359152" y="3749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each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matters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895344" y="2834640"/>
            <a:ext cx="1463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895344" y="2834640"/>
            <a:ext cx="1463040" cy="54864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20" name="Text 17"/>
          <p:cNvSpPr/>
          <p:nvPr/>
        </p:nvSpPr>
        <p:spPr>
          <a:xfrm>
            <a:off x="3895344" y="2971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3895344" y="3383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986784" y="3749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522976" y="2834640"/>
            <a:ext cx="1463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522976" y="2834640"/>
            <a:ext cx="1463040" cy="5486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25" name="Text 22"/>
          <p:cNvSpPr/>
          <p:nvPr/>
        </p:nvSpPr>
        <p:spPr>
          <a:xfrm>
            <a:off x="5522976" y="2971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σ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5522976" y="3383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614416" y="3749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150608" y="2834640"/>
            <a:ext cx="1463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150608" y="2834640"/>
            <a:ext cx="1463040" cy="54864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30" name="Text 27"/>
          <p:cNvSpPr/>
          <p:nvPr/>
        </p:nvSpPr>
        <p:spPr>
          <a:xfrm>
            <a:off x="7150608" y="2971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5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7150608" y="3383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242048" y="3749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neuron's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"vote"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a neuron actually do?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46304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neuron draws a line through the input space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weights (w) determine the </a:t>
            </a:r>
            <a:pPr indent="0" marL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</a:t>
            </a:r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line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 (b) determines the </a:t>
            </a:r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line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activation function </a:t>
            </a:r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squashes</a:t>
            </a:r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output to a useful range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78638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example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Inputs:   x = [0.5, 0.3, 0.2]      (3 pixel values)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Weights:  w = [0.4, −0.2, 0.6]      (learned importance)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Bias:     b = 0.1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Linear:   z = 0.4×0.5 + (−0.2)×0.3 + 0.6×0.2 + 0.1 = 0.36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Sigmoid:  a = σ(0.36) = 0.589 → 58.9% probability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weights (w₁, w₃) → push output UP     Negative weight (w₂) → pushes DOWN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2: Activation functions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them, stacking layers is pointless — multiple linear layers = one linear layer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  <a:gridCol w="914400"/>
                <a:gridCol w="192024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8A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/ (1 + e⁻ᶻ)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(0, 1)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Smooth, probabilistic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Vanishing gradient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F77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(eᶻ − e⁻ᶻ)/(eᶻ + e⁻ᶻ)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(−1, 1)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Zero-centred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Vanishing gradient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max(0, z)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[0, ∞)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no vanishing grad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neurons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5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Leaky ReLU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 if z&gt;0, 0.01z else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(−∞, ∞)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Fixes dead neurons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hyperparameter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5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 · Φ(z)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(−∞, ∞)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Smooth, transformers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EAF3D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2336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63040" y="39319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use ReLU for hidden layers (default), sigmoid for binary output, softmax for multi-class output.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non-linearity is everything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554480"/>
          </a:xfrm>
          <a:prstGeom prst="rect">
            <a:avLst/>
          </a:prstGeom>
          <a:solidFill>
            <a:srgbClr val="E24B4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activation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Linear(Linear(x)) = Linear(x)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number of linear layers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into 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371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Cannot solve XOR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7863840" cy="1554480"/>
          </a:xfrm>
          <a:prstGeom prst="rect">
            <a:avLst/>
          </a:prstGeom>
          <a:solidFill>
            <a:srgbClr val="1D9E75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activation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ReLU(Linear(ReLU(Linear(x))))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learns a NEW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of the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Solves anything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3: From neurons to networks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1440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 = many neurons in parallel: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Wx + b          a = σ(z)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2377440"/>
            <a:ext cx="1828800" cy="1005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2377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(784 pixels)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79192" y="2788920"/>
            <a:ext cx="201168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0" name="Text 7"/>
          <p:cNvSpPr/>
          <p:nvPr/>
        </p:nvSpPr>
        <p:spPr>
          <a:xfrm>
            <a:off x="260604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926080" y="2377440"/>
            <a:ext cx="1828800" cy="1005840"/>
          </a:xfrm>
          <a:prstGeom prst="rect">
            <a:avLst/>
          </a:prstGeom>
          <a:solidFill>
            <a:srgbClr val="E6F1F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926080" y="2377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(256 neurons)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82312" y="2788920"/>
            <a:ext cx="201168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4" name="Text 11"/>
          <p:cNvSpPr/>
          <p:nvPr/>
        </p:nvSpPr>
        <p:spPr>
          <a:xfrm>
            <a:off x="470916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29200" y="2377440"/>
            <a:ext cx="1828800" cy="1005840"/>
          </a:xfrm>
          <a:prstGeom prst="rect">
            <a:avLst/>
          </a:prstGeom>
          <a:solidFill>
            <a:srgbClr val="EEED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029200" y="2377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(128 neurons)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85432" y="2788920"/>
            <a:ext cx="201168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8" name="Text 15"/>
          <p:cNvSpPr/>
          <p:nvPr/>
        </p:nvSpPr>
        <p:spPr>
          <a:xfrm>
            <a:off x="681228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132320" y="2377440"/>
            <a:ext cx="1828800" cy="1005840"/>
          </a:xfrm>
          <a:prstGeom prst="rect">
            <a:avLst/>
          </a:prstGeom>
          <a:solidFill>
            <a:srgbClr val="EAFBE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132320" y="2377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classes)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3749040"/>
            <a:ext cx="7863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3749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103120" y="3749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layers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0" y="3749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depth = more abstract features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40080" y="4187952"/>
            <a:ext cx="7863840" cy="347472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41879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103120" y="41879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per layer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0" y="4187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width = more capacity per layer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40080" y="4626864"/>
            <a:ext cx="7863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822960" y="46268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2103120" y="46268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matrices + b vectors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72000" y="46268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784×256 + 256 = 200,960 just for layer 1!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Softmax: logits → probabilities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0" y="1097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pᵢ = </a:t>
            </a:r>
            <a:pPr indent="0" marL="0">
              <a:buNone/>
            </a:pPr>
            <a:r>
              <a:rPr lang="en-US" sz="1800" b="1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eᶻⁱ</a:t>
            </a:r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Σⱼ eᶻʲ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54864" cy="5029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94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∈ (0, 1)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21945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probabilities — can be interpreted as confidence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834640"/>
            <a:ext cx="54864" cy="50292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834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= 1.0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2834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probability distribution — one answer must be chosen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474720"/>
            <a:ext cx="54864" cy="502920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474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order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0" y="34747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logit → highest probability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14800"/>
            <a:ext cx="54864" cy="50292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114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4114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flow through it during backprop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4: Loss functions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measures how wrong the network is. Training = minimising the loss.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463040"/>
            <a:ext cx="374904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(regression)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1/N Σᵢ (yᵢ − ŷᵢ)²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24688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average squared
distance between predictions
and true values.
</a:t>
            </a:r>
            <a:pPr indent="0" marL="0">
              <a:buNone/>
            </a:pPr>
            <a:r>
              <a:rPr lang="en-US" sz="11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errors are penalised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quadratically — outliers hurt a lot.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463040"/>
            <a:ext cx="3749040" cy="5486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(classification)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−1/N Σᵢ log(p_yᵢ)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0" y="24688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log probability of
the correct class.
</a:t>
            </a:r>
            <a:pPr indent="0" marL="0">
              <a:buNone/>
            </a:pPr>
            <a:r>
              <a:rPr lang="en-US" sz="1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+ WRONG → huge loss
Confident + RIGHT → tiny loss
</a:t>
            </a:r>
            <a:pPr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asymmetry makes learning fast.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regression → MSE (or MAE)     classification → cross-entropy     Always.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Cross-entropy: the intuition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only cares about the probability assigned to the CORRECT class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54864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95% confident &amp; RIGHT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−log(0.95) = 0.05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1463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loss 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240280"/>
            <a:ext cx="54864" cy="64008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50% confident (unsure)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240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−log(0.50) = 0.69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2240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loss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017520"/>
            <a:ext cx="54864" cy="64008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017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5% confident &amp; RIGHT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−log(0.05) = 3.00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loss 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794760"/>
            <a:ext cx="54864" cy="64008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94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95% confident &amp; WRONG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794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−log(0.05) = 3.00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3794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loss ✗✗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786384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5: Backpropagation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that makes neural networks learn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solidFill>
            <a:srgbClr val="7F77DD">
              <a:alpha val="2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 How much does each weight contribute to the error?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77440"/>
            <a:ext cx="7863840" cy="10972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rule: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∂L/∂w  =  ∂L/∂a  ×  ∂a/∂z  ×  ∂z/∂w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" y="3566160"/>
            <a:ext cx="2468880" cy="1371600"/>
          </a:xfrm>
          <a:prstGeom prst="rect">
            <a:avLst/>
          </a:prstGeom>
          <a:solidFill>
            <a:srgbClr val="D85A30">
              <a:alpha val="1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657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∂L/∂a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" y="4069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loss changes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output changes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83280" y="3566160"/>
            <a:ext cx="2468880" cy="1371600"/>
          </a:xfrm>
          <a:prstGeom prst="rect">
            <a:avLst/>
          </a:prstGeom>
          <a:solidFill>
            <a:srgbClr val="7F77DD">
              <a:alpha val="1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3383280" y="3657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∂a/∂z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20440" y="4069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activation changes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pre-activation changes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(= activation derivative)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26480" y="3566160"/>
            <a:ext cx="2468880" cy="1371600"/>
          </a:xfrm>
          <a:prstGeom prst="rect">
            <a:avLst/>
          </a:prstGeom>
          <a:solidFill>
            <a:srgbClr val="1D9E75">
              <a:alpha val="15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126480" y="3657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∂z/∂w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63640" y="4069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pre-activation changes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weight changes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(= the input value)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Backprop: two passes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55448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Forward pass  →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→ Layer 1 → Layer 2 → ... → Output → Loss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predictions and the loss value.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builds a computation graph of every operation.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7863840" cy="1554480"/>
          </a:xfrm>
          <a:prstGeom prst="rect">
            <a:avLst/>
          </a:prstGeom>
          <a:solidFill>
            <a:srgbClr val="FAECE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Backward pass  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→ ∂L/∂output → ∂L/∂layer2 → ∂L/∂layer1 → ∂L/∂input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gradients for EVERY weight in the network.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chain rule, layer by layer, from output back to input.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786384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vanishing gradient problem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sigmoid/tanh fail in deep networks, and why ReLU was a breakthrough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3749040" cy="25603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derivative: max = 0.25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19659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multiplies gradient
by at most 0.25.
</a:t>
            </a:r>
            <a:pPr indent="0" marL="0">
              <a:buNone/>
            </a:pPr>
            <a:r>
              <a:rPr lang="en-US" sz="1200" dirty="0">
                <a:solidFill>
                  <a:srgbClr val="E24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10 layers:
0.25¹⁰ = 0.0000009537
</a:t>
            </a:r>
            <a:pPr indent="0" marL="0">
              <a:buNone/>
            </a:pPr>
            <a:r>
              <a:rPr lang="en-US" sz="11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VANISHES.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layers barely learn.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463040"/>
            <a:ext cx="3749040" cy="2560320"/>
          </a:xfrm>
          <a:prstGeom prst="rect">
            <a:avLst/>
          </a:prstGeom>
          <a:solidFill>
            <a:srgbClr val="EAFBE7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derivative: 0 or 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0" y="19659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active (z &gt; 0), gradient
passes through perfectly.
</a:t>
            </a:r>
            <a:pPr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10 layers:
1¹⁰ = 1.0
</a:t>
            </a:r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FLOW.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layers learn equally fast.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ReLU (2010) was a breakthrough. It's the reason deep networks became practical.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6: Optimisers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weights get updated: w ← w − lr × update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71600"/>
            <a:ext cx="54864" cy="749808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37160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103120" y="137160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← w − η∇L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297680" y="137160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gradient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0" y="137160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but slow 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elongated surfaces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224028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2240280"/>
            <a:ext cx="54864" cy="749808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224028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103120" y="224028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← βv + ∇L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← w − ηv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297680" y="224028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rolling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downhill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0" y="22402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directions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" y="310896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080" y="3108960"/>
            <a:ext cx="54864" cy="749808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310896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103120" y="310896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Scales lr by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recent grad magnitude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297680" y="310896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per-parameter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43600" y="310896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different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well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40080" y="397764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40080" y="3977640"/>
            <a:ext cx="54864" cy="74980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5" name="Text 22"/>
          <p:cNvSpPr/>
          <p:nvPr/>
        </p:nvSpPr>
        <p:spPr>
          <a:xfrm>
            <a:off x="1005840" y="397764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2103120" y="397764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Momentum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RMSProp combined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297680" y="397764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worlds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943600" y="397764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choice.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almost everywhere.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learning rate — the most important hyperparameter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640080" y="1097280"/>
            <a:ext cx="2468880" cy="32004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1188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(lr = 0.0001)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1920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VERY slowly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get stuck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minima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forever.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epochs to reach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decent loss.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83280" y="1097280"/>
            <a:ext cx="2468880" cy="3200400"/>
          </a:xfrm>
          <a:prstGeom prst="rect">
            <a:avLst/>
          </a:prstGeom>
          <a:solidFill>
            <a:srgbClr val="EAFBE7"/>
          </a:solidFill>
          <a:ln/>
        </p:spPr>
      </p:sp>
      <p:sp>
        <p:nvSpPr>
          <p:cNvPr id="9" name="Text 6"/>
          <p:cNvSpPr/>
          <p:nvPr/>
        </p:nvSpPr>
        <p:spPr>
          <a:xfrm>
            <a:off x="3520440" y="1188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right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(lr = 0.001)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520440" y="1920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steadily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loss curve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good minimum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52044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sweet spot.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default = 0.001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reason.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26480" y="1097280"/>
            <a:ext cx="2468880" cy="320040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3" name="Text 10"/>
          <p:cNvSpPr/>
          <p:nvPr/>
        </p:nvSpPr>
        <p:spPr>
          <a:xfrm>
            <a:off x="6263640" y="1188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large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(lr = 0.1)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63640" y="1920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OSCILLATES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diverge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converges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6364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unstable.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jumps around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explodes to NaN.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7: Regularisation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the model from memorising training data instead of learning patterns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71600"/>
            <a:ext cx="54864" cy="5943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371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regularisation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468880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+ λΣwᵢ²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48056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large weights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simpler model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675120" y="1371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 (weight_decay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optimiser)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0080" y="2084832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2084832"/>
            <a:ext cx="54864" cy="594360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208483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468880" y="20848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Randomly zero p% of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neurons during training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480560" y="20848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redundancy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single neuron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critical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675120" y="20848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p=0.2 to 0.5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" y="2798064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080" y="2798064"/>
            <a:ext cx="54864" cy="59436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2798064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468880" y="279806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when val loss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starts increasing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480560" y="2798064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Free! No extra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cost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675120" y="2798064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Always. Monitor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 every epoch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40080" y="3511296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40080" y="3511296"/>
            <a:ext cx="54864" cy="59436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25" name="Text 22"/>
          <p:cNvSpPr/>
          <p:nvPr/>
        </p:nvSpPr>
        <p:spPr>
          <a:xfrm>
            <a:off x="914400" y="3511296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468880" y="351129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Normalise activations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mini-batch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480560" y="351129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Stabilises training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mild regularisation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675120" y="351129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always.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or after ReLU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40080" y="4224528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0080" y="4224528"/>
            <a:ext cx="54864" cy="594360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31" name="Text 28"/>
          <p:cNvSpPr/>
          <p:nvPr/>
        </p:nvSpPr>
        <p:spPr>
          <a:xfrm>
            <a:off x="914400" y="422452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2468880" y="42245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transforms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training images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480560" y="42245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training 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less overfitting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675120" y="42245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flip, rotate,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crop, colour jitter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bias-variance tradeoff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097280"/>
            <a:ext cx="2468880" cy="365760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188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Underfitting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simple.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capture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at all.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8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bias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8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variance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914400" y="3291840"/>
            <a:ext cx="1920240" cy="45720"/>
          </a:xfrm>
          <a:prstGeom prst="rect">
            <a:avLst/>
          </a:prstGeom>
          <a:solidFill>
            <a:srgbClr val="378ADD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3429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layers, more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neurons, train longer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1097280"/>
            <a:ext cx="2468880" cy="3657600"/>
          </a:xfrm>
          <a:prstGeom prst="rect">
            <a:avLst/>
          </a:prstGeom>
          <a:solidFill>
            <a:srgbClr val="EAFBE7"/>
          </a:solidFill>
          <a:ln/>
        </p:spPr>
      </p:sp>
      <p:sp>
        <p:nvSpPr>
          <p:cNvPr id="11" name="Text 8"/>
          <p:cNvSpPr/>
          <p:nvPr/>
        </p:nvSpPr>
        <p:spPr>
          <a:xfrm>
            <a:off x="3383280" y="1188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fit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2044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real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pattern, ignores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52044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bias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variance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0" y="3291840"/>
            <a:ext cx="1920240" cy="45720"/>
          </a:xfrm>
          <a:prstGeom prst="rect">
            <a:avLst/>
          </a:prstGeom>
          <a:solidFill>
            <a:srgbClr val="1D9E75">
              <a:alpha val="5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3520440" y="3429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goal.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 helps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here.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26480" y="1097280"/>
            <a:ext cx="2468880" cy="365760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7" name="Text 14"/>
          <p:cNvSpPr/>
          <p:nvPr/>
        </p:nvSpPr>
        <p:spPr>
          <a:xfrm>
            <a:off x="6126480" y="1188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Overfitting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6364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Memorised training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including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noise.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6364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4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bias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4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variance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0" y="3291840"/>
            <a:ext cx="1920240" cy="45720"/>
          </a:xfrm>
          <a:prstGeom prst="rect">
            <a:avLst/>
          </a:prstGeom>
          <a:solidFill>
            <a:srgbClr val="E24B4A">
              <a:alpha val="5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6263640" y="3429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Dropout, early stopping,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data, simpler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 initialisation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initialisation → activations explode or vanish before training even starts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463040"/>
            <a:ext cx="54864" cy="68580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463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377440" y="1463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w = 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389120" y="14630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69280" y="1463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neurons compute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thing 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problem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228600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2286000"/>
            <a:ext cx="54864" cy="68580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22860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377440" y="2286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~ N(0, 0.01)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0" y="22860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69280" y="2286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Activations collapse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0 in deep nets 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" y="310896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080" y="3108960"/>
            <a:ext cx="54864" cy="685800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31089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Xavier/Glorot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377440" y="3108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~ N(0, 2/(nᵢₙ + nₒᵤₜ))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389120" y="31089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Sigmoid, Tanh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69280" y="3108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variance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through layers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40080" y="3931920"/>
            <a:ext cx="54864" cy="6858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5" name="Text 22"/>
          <p:cNvSpPr/>
          <p:nvPr/>
        </p:nvSpPr>
        <p:spPr>
          <a:xfrm>
            <a:off x="1005840" y="39319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He/Kaiming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377440" y="3931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~ N(0, 2/nᵢₙ)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389120" y="39319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(default)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669280" y="3931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uses this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nn.Linear.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 picture — how it all connects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554480" cy="2377440"/>
          </a:xfrm>
          <a:prstGeom prst="rect">
            <a:avLst/>
          </a:prstGeom>
          <a:solidFill>
            <a:srgbClr val="7F77D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init for ReLU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83080" y="1920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11680" y="1097280"/>
            <a:ext cx="1554480" cy="2377440"/>
          </a:xfrm>
          <a:prstGeom prst="rect">
            <a:avLst/>
          </a:prstGeom>
          <a:solidFill>
            <a:srgbClr val="378ADD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0312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22860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layers → logits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softmax → loss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1920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49040" y="1097280"/>
            <a:ext cx="1554480" cy="2377440"/>
          </a:xfrm>
          <a:prstGeom prst="rect">
            <a:avLst/>
          </a:prstGeom>
          <a:solidFill>
            <a:srgbClr val="D85A30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4048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22860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 computes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∂L/∂w for ALL weights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57800" y="1920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0" y="1097280"/>
            <a:ext cx="1554480" cy="2377440"/>
          </a:xfrm>
          <a:prstGeom prst="rect">
            <a:avLst/>
          </a:prstGeom>
          <a:solidFill>
            <a:srgbClr val="1D9E75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7784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22860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Adam: w ← w − lr × update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95160" y="1920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223760" y="1097280"/>
            <a:ext cx="1554480" cy="2377440"/>
          </a:xfrm>
          <a:prstGeom prst="rect">
            <a:avLst/>
          </a:prstGeom>
          <a:solidFill>
            <a:srgbClr val="D4537E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5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1520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(epochs)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0" y="22860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val loss stops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→ stop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solidFill>
            <a:srgbClr val="EF9F27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Steps 2–4 repeat for every batch. All batches = one epoch. Train for 10–100+ epochs.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05840"/>
            <a:ext cx="54864" cy="438912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neuron = linear function + non-linearity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0" y="10058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wᵀx + b, then σ(z)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78638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54480"/>
            <a:ext cx="54864" cy="438912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5448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solved the vanishing gradient problem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0" y="15544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Derivative is 0 or 1 — gradients flow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78638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103120"/>
            <a:ext cx="54864" cy="43891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1031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= representational power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0" y="21031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layer learns more abstract 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78638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651760"/>
            <a:ext cx="54864" cy="438912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651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for classification, MSE for regression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0" y="26517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loss shapes what the model learns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200400"/>
            <a:ext cx="78638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200400"/>
            <a:ext cx="54864" cy="438912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200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 = chain rule, applied layer by layer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32004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Computes all gradients in one backward pass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749040"/>
            <a:ext cx="78638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749040"/>
            <a:ext cx="54864" cy="43891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74904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is the default optimiser (lr=0.001)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37490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Momentum + adaptive learning rates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297680"/>
            <a:ext cx="78638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4297680"/>
            <a:ext cx="54864" cy="438912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429768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Regularise: dropout + batch norm + early stopping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0" y="42976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difference between memorising and learning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Next: put it into code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companion notebooks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371600" y="2743200"/>
            <a:ext cx="6400800" cy="438912"/>
          </a:xfrm>
          <a:prstGeom prst="rect">
            <a:avLst/>
          </a:prstGeom>
          <a:solidFill>
            <a:srgbClr val="378ADD">
              <a:alpha val="2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554480" y="27432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Phase_03_Deep_Learning_Fundamentals.ipynb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120640" y="2743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concept with NumPy code + visualisations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371600" y="3291840"/>
            <a:ext cx="6400800" cy="438912"/>
          </a:xfrm>
          <a:prstGeom prst="rect">
            <a:avLst/>
          </a:prstGeom>
          <a:solidFill>
            <a:srgbClr val="378ADD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554480" y="329184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Phase_03_PyTorch_Deep_Dive.ipynb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120640" y="32918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Tensors, autograd, nn.Module, training loop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371600" y="3840480"/>
            <a:ext cx="6400800" cy="438912"/>
          </a:xfrm>
          <a:prstGeom prst="rect">
            <a:avLst/>
          </a:prstGeom>
          <a:solidFill>
            <a:srgbClr val="378ADD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554480" y="384048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Phase_03_MNIST_Explained.ipynb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120640" y="38404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digit classifier, every line explained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Fundamentals — Theory</dc:title>
  <dc:subject>PptxGenJS Presentation</dc:subject>
  <dc:creator>ML/DL/CV Course</dc:creator>
  <cp:lastModifiedBy>ML/DL/CV Course</cp:lastModifiedBy>
  <cp:revision>1</cp:revision>
  <dcterms:created xsi:type="dcterms:W3CDTF">2026-04-02T13:06:10Z</dcterms:created>
  <dcterms:modified xsi:type="dcterms:W3CDTF">2026-04-02T13:06:10Z</dcterms:modified>
</cp:coreProperties>
</file>