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EF9F27">
              <a:alpha val="8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Architectures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Changed the World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LeNet (1998) to modern vision models — what each solved and why it mattered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Deep Learning &amp; Computer Vision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ImageNet revolution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architecture solved a specific problem that held back the previous one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59436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371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54480" y="1371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LeNet-5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34640" y="1371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60K params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29768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works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recognition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1371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" y="208483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084832"/>
            <a:ext cx="54864" cy="5943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08483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54480" y="208483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3464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60M params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97680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09360" y="20848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Sutskever, Hinton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40080" y="279806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2798064"/>
            <a:ext cx="54864" cy="594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27980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54480" y="279806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834640" y="279806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138M params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97680" y="27980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with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convolutions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09360" y="279806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Simonyan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Zisserman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40080" y="351129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0080" y="3511296"/>
            <a:ext cx="54864" cy="5943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8" name="Text 25"/>
          <p:cNvSpPr/>
          <p:nvPr/>
        </p:nvSpPr>
        <p:spPr>
          <a:xfrm>
            <a:off x="868680" y="351129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554480" y="351129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GoogLeNet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834640" y="351129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6.8M params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297680" y="351129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Inception: multi-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 parallel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309360" y="351129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Szegedy et al.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40080" y="422452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0080" y="4224528"/>
            <a:ext cx="54864" cy="59436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5" name="Text 32"/>
          <p:cNvSpPr/>
          <p:nvPr/>
        </p:nvSpPr>
        <p:spPr>
          <a:xfrm>
            <a:off x="868680" y="42245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554480" y="422452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2834640" y="42245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152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60M params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297680" y="422452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degradation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309360" y="422452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He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772400" y="1371600"/>
            <a:ext cx="731520" cy="594360"/>
          </a:xfrm>
          <a:prstGeom prst="rect">
            <a:avLst/>
          </a:prstGeom>
          <a:solidFill>
            <a:srgbClr val="7F77DD">
              <a:alpha val="3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772400" y="13716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772400" y="2084832"/>
            <a:ext cx="731520" cy="594360"/>
          </a:xfrm>
          <a:prstGeom prst="rect">
            <a:avLst/>
          </a:prstGeom>
          <a:solidFill>
            <a:srgbClr val="D85A30">
              <a:alpha val="3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7772400" y="208483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772400" y="2798064"/>
            <a:ext cx="731520" cy="594360"/>
          </a:xfrm>
          <a:prstGeom prst="rect">
            <a:avLst/>
          </a:prstGeom>
          <a:solidFill>
            <a:srgbClr val="378ADD">
              <a:alpha val="3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7772400" y="2798064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772400" y="3511296"/>
            <a:ext cx="731520" cy="594360"/>
          </a:xfrm>
          <a:prstGeom prst="rect">
            <a:avLst/>
          </a:prstGeom>
          <a:solidFill>
            <a:srgbClr val="1D9E75">
              <a:alpha val="3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7772400" y="3511296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772400" y="4224528"/>
            <a:ext cx="731520" cy="594360"/>
          </a:xfrm>
          <a:prstGeom prst="rect">
            <a:avLst/>
          </a:prstGeom>
          <a:solidFill>
            <a:srgbClr val="D4537E">
              <a:alpha val="3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7772400" y="422452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7772400" y="1005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F77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LeNet-5 (1998)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 LeCun — the architecture that proved CNNs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(32×32×1) → Conv5×5(6) → Pool → Conv5×5(16) → Pool → FC(120) → FC(84) → FC(10)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learned layers  ·  ~60K parameters  ·  Sigmoid/Tanh activations  ·  Average pooling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468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handwritten digits (28×28 grayscale)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52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28529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successful CNN — conv + pool + FC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369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32369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/ Tanh (ReLU didn't exist yet)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6210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36210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pooling (max pooling came later)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005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40050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US Post Office to read ZIP codes on mail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4389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for complex images, slow activations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 (2012)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Krizhevsky, Sutskever &amp; Hinton — launched the deep learning revolution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(227×227×3) → Conv11×11(96,s4) → Pool → Conv5×5(256) → Pool → Conv3×3(384) → Conv3×3(384) → Conv3×3(256) → Pool → FC(4096) → FC(4096) → FC(1000)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77440"/>
            <a:ext cx="246888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sigmoid with max(0,x).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faster training.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vanishing gradient.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377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377440"/>
            <a:ext cx="2468880" cy="54864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(p=0.5)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zero 50% of FC neurons.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 in a large network.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overfitting on ImageNet.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4688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377440"/>
            <a:ext cx="246888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network across 2 GPUs.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in 6 days on 2× GTX 580.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would take months on CPU.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AlexNet's impact: before and after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828800"/>
          </a:xfrm>
          <a:prstGeom prst="rect">
            <a:avLst/>
          </a:prstGeom>
          <a:solidFill>
            <a:srgbClr val="E24B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2011 (before)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hand-crafted features
(SIFT, HOG, Fisher vectors)
</a:t>
            </a:r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Top-5 error: 25.8%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749040" cy="182880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2012 (AlexNet)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deep CNN
(learned features end-to-end)
</a:t>
            </a:r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Top-5 error: 16.4%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percentage points improvement — the biggest single-year jump in ImageNet history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2012, every ImageNet winner used deep CNNs.
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features disappeared almost overnight.
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moment is widely considered the start of the modern deep learning era.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VGGNet (2014)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Simonyan &amp; Zisserman (Oxford) — depth matters, keep it simple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1463040"/>
          </a:xfrm>
          <a:prstGeom prst="rect">
            <a:avLst/>
          </a:prstGeom>
          <a:solidFill>
            <a:srgbClr val="E6F1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insight: use ONLY 3×3 convolutions, stacked very deep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3×3 convs = same receptive field as one 5×5
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3×3 convs = same receptive field as one 7×7
</a:t>
            </a:r>
            <a:pPr indent="0" marL="0">
              <a:buNone/>
            </a:pPr>
            <a:r>
              <a:rPr lang="en-US" sz="12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FEWER parameters AND more non-linearity (more ReLU layers between them)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architecture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520440"/>
            <a:ext cx="1188720" cy="100584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 Conv3×3-64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" y="4251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(64,112,112)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993392" y="3794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148840" y="3520440"/>
            <a:ext cx="1188720" cy="100584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14884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14884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 Conv3×3-128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148840" y="4251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(128,56,56)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319272" y="3794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74720" y="3520440"/>
            <a:ext cx="1188720" cy="100584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47472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7472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 Conv3×3-256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474720" y="4251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(256,28,28)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645152" y="3794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800600" y="3520440"/>
            <a:ext cx="1188720" cy="100584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80060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0060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 Conv3×3-512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00600" y="4251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(512,14,14)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971032" y="3794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26480" y="3520440"/>
            <a:ext cx="1188720" cy="1005840"/>
          </a:xfrm>
          <a:prstGeom prst="rect">
            <a:avLst/>
          </a:prstGeom>
          <a:solidFill>
            <a:srgbClr val="D85A30">
              <a:alpha val="15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61264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2648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 Conv3×3-512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MaxPool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126480" y="4251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(512,7,7)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7296912" y="3794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52360" y="3520440"/>
            <a:ext cx="1188720" cy="1005840"/>
          </a:xfrm>
          <a:prstGeom prst="rect">
            <a:avLst/>
          </a:prstGeom>
          <a:solidFill>
            <a:srgbClr val="6B7280">
              <a:alpha val="1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45236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45236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FC-4096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FC-4096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FC-1000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452360" y="4251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(1000)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GoogLeNet / Inception (2014)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Szegedy et al. (Google) — go wider, not just deeper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Inception module: multiple filter sizes in parallel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the network decide which filter size is best at each location"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645920" cy="118872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1×1 conv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point-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 features.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2194560"/>
            <a:ext cx="1645920" cy="118872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 conv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1645920" cy="1188720"/>
          </a:xfrm>
          <a:prstGeom prst="rect">
            <a:avLst/>
          </a:prstGeom>
          <a:solidFill>
            <a:srgbClr val="7F77DD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77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5×5 conv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view.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patterns.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2194560"/>
            <a:ext cx="1645920" cy="1188720"/>
          </a:xfrm>
          <a:prstGeom prst="rect">
            <a:avLst/>
          </a:prstGeom>
          <a:solidFill>
            <a:srgbClr val="D85A30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 max pool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+ 1×1 conv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606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Concatenate along channel dimension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6.8M params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(vs VGG's 138M) thanks to 1×1 bottleneck convolutions that reduce channels before expensive 3×3 and 5×5 ops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 (2015)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He et al. (Microsoft) — the most important architecture in deep learning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3749040" cy="14630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networks should be better.
But 56-layer network has HIGHER
training error than 20-layer.
</a:t>
            </a:r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overfitting — even train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worse. The layers can't learn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function.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749040" cy="1463040"/>
          </a:xfrm>
          <a:prstGeom prst="rect">
            <a:avLst/>
          </a:prstGeom>
          <a:solidFill>
            <a:srgbClr val="EAFBE7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skip connections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F(x) + x
</a:t>
            </a:r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learning H(x), learn
the residual F(x) = H(x) − x.
</a:t>
            </a:r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layer is useless, F(x)=0 is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 → just pass through.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06324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828800" y="3566160"/>
            <a:ext cx="1280160" cy="41148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0" y="3566160"/>
            <a:ext cx="731520" cy="41148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0" y="3566160"/>
            <a:ext cx="731520" cy="411480"/>
          </a:xfrm>
          <a:prstGeom prst="rect">
            <a:avLst/>
          </a:prstGeom>
          <a:solidFill>
            <a:srgbClr val="D85A30">
              <a:alpha val="2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94960" y="3566160"/>
            <a:ext cx="1280160" cy="411480"/>
          </a:xfrm>
          <a:prstGeom prst="rect">
            <a:avLst/>
          </a:prstGeom>
          <a:solidFill>
            <a:srgbClr val="378ADD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49440" y="3566160"/>
            <a:ext cx="731520" cy="411480"/>
          </a:xfrm>
          <a:prstGeom prst="rect">
            <a:avLst/>
          </a:prstGeom>
          <a:solidFill>
            <a:srgbClr val="1D9E75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94944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08960" y="3767328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0" y="3767328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120640" y="3767328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675120" y="3767328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9728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371600" y="3767328"/>
            <a:ext cx="457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97280" y="4160520"/>
            <a:ext cx="6858000" cy="320040"/>
          </a:xfrm>
          <a:prstGeom prst="rect">
            <a:avLst/>
          </a:prstGeom>
          <a:solidFill>
            <a:srgbClr val="D4537E">
              <a:alpha val="1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28016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connection: x passes directly (identity) →  ⊕  → ReLU → output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skip connections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D4537E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5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highway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∂(F(x)+x)/∂x = ∂F/∂x + 1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+1 means gradient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at least 1.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through 152 layers.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200400"/>
          </a:xfrm>
          <a:prstGeom prst="rect">
            <a:avLst/>
          </a:prstGeom>
          <a:solidFill>
            <a:srgbClr val="1D9E75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identity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F(x)=0 (layer learns nothing),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0 + x = x.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layers NEVER makes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worse.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3200400"/>
          </a:xfrm>
          <a:prstGeom prst="rect">
            <a:avLst/>
          </a:prstGeom>
          <a:solidFill>
            <a:srgbClr val="378ADD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Residual is easier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small correction F(x)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easier than learning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 H(x) from scratch.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editing vs writing from zero.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 bottleneck block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deeper networks (50+), use 1×1 convolutions to reduce computation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block (ResNet-18/34)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3×3, 64  (36,864 params)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3×3, 64  (36,864 params)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5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skip → ReLU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73,728 params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block (ResNet-50/101/152)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1×1, 64  (16,384 ← reduce)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3×3, 64  (36,864 ← cheap!)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1×1, 256 (16,384 ← expand)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5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+ skip → ReLU
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69,632 params (fewer!)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78638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ResNet: modern architectures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097280"/>
            <a:ext cx="54864" cy="8046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0972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(2019)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86000" y="1097280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&amp; 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66160" y="10972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depth, width,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resolution together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35040" y="10972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accuracy/FLOP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 of any CNN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011680"/>
            <a:ext cx="54864" cy="804672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0116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(2017–2019)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86000" y="2011680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 et 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66160" y="20116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convs: split spatial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channel mixing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20116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phones.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~3M params, real-time.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29260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2926080"/>
            <a:ext cx="54864" cy="80467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29260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(2022)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286000" y="2926080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566160" y="29260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Modernised ResNet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transformer tricks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(larger kernels, LayerNorm)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35040" y="29260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CNN matching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performance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" y="38404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840480"/>
            <a:ext cx="54864" cy="80467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38404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(ViT, 2020)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286000" y="3840480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 et 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(Google)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566160" y="38404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images into tokens,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self-attention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convolutions!)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35040" y="384048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for large-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pretraining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use in practice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097280"/>
            <a:ext cx="54864" cy="8046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0972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08960" y="10972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pretrained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ImageNet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109728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with lr=1e-4.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always your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starting point.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011680"/>
            <a:ext cx="54864" cy="804672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0116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compute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mobile deployment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08960" y="20116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MobileNetV3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201168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faster.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accuracy/speed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9260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926080"/>
            <a:ext cx="54864" cy="804672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29260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dataset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lots of GPU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108960" y="29260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ViT-Large pretrained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(MAE, CLIP, DINOv2)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03520" y="292608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absolute accuracy.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large-scale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pretraining.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3840480"/>
            <a:ext cx="78638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080" y="3840480"/>
            <a:ext cx="54864" cy="80467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840480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train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108960" y="384048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or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+ modern tricks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03520" y="384048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weights.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comparison at a glance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548640"/>
                <a:gridCol w="731520"/>
                <a:gridCol w="731520"/>
                <a:gridCol w="16459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Top-5 err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Still used?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F7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LeNet-5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(too small)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+ GPU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(outdated)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8A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VGG-16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3×3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 modules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53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connections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Yes! Default choice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scaling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(mobile/edge)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ViT-B/16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(SOTA)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8A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ConvNeXt-T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CNN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(CNN comeback)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20624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 proved CNNs work (1998)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0" y="10058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 + FC — the original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36192"/>
            <a:ext cx="54864" cy="42062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53619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launched deep learning (2012)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5361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Dropout + GPU — the revolution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66544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066544"/>
            <a:ext cx="54864" cy="42062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6654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showed depth matters (2014)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06654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3×3 convs: fewer params, more non-linearity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596896"/>
            <a:ext cx="54864" cy="42062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59689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GoogLeNet went wider (2014)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5968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modules: multi-scale parallel paths + 1×1 bottlenecks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127248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127248"/>
            <a:ext cx="54864" cy="42062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12724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solved depth (2015)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312724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connections: output = F(x) + x → gradient highway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657600"/>
            <a:ext cx="54864" cy="42062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6576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Modern: ViT, EfficientNet, ConvNeXt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6576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scaling laws, and CNN-transformer hybrids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187952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187952"/>
            <a:ext cx="54864" cy="42062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18795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start with ResNet-50 pretrained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41879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beats training from scratch almost always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Architectures — From LeNet to Modern Models</dc:title>
  <dc:subject>PptxGenJS Presentation</dc:subject>
  <dc:creator>ML/DL/CV Course</dc:creator>
  <cp:lastModifiedBy>ML/DL/CV Course</cp:lastModifiedBy>
  <cp:revision>1</cp:revision>
  <dcterms:created xsi:type="dcterms:W3CDTF">2026-04-07T21:36:10Z</dcterms:created>
  <dcterms:modified xsi:type="dcterms:W3CDTF">2026-04-07T21:36:10Z</dcterms:modified>
</cp:coreProperties>
</file>